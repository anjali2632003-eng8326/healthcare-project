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0A5FA"/>
                </a:solidFill>
                <a:latin typeface="Calibri"/>
              </a:rPr>
              <a:t>MCA Project  |  Demo Day Study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1F5F9"/>
                </a:solidFill>
                <a:latin typeface="Calibri"/>
              </a:rPr>
              <a:t>Healthcare Data Analysis &amp;
Visualization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4A3B8"/>
                </a:solidFill>
                <a:latin typeface="Calibri"/>
              </a:rPr>
              <a:t>Easy study slides — project overview, architecture, pages, ML &amp;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1F5F9"/>
                </a:solidFill>
                <a:latin typeface="Calibri"/>
              </a:rPr>
              <a:t>Streamlit  •  Python  •  SQLite  •  Plotly  •  scikit-learn
10,000 patient records  |  6 analytics pages  |  3 ML features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00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1F5F9"/>
                </a:solidFill>
                <a:latin typeface="Calibri"/>
              </a:rPr>
              <a:t>Use these slides to revise + speak confidently to your lecturer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1F5F9"/>
                </a:solidFill>
                <a:latin typeface="Calibri"/>
              </a:rPr>
              <a:t>Study 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</a:rPr>
              <a:t>What you will learn from this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5303520" cy="9144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93392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563EB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029968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Calibri"/>
              </a:rPr>
              <a:t>Project Pitch &amp; Problem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737360"/>
            <a:ext cx="5303520" cy="9144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993392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563EB"/>
                </a:solidFill>
                <a:latin typeface="Calibr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2029968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Calibri"/>
              </a:rPr>
              <a:t>Tech Stack &amp; How to Run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834639"/>
            <a:ext cx="5303520" cy="9144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090671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563EB"/>
                </a:solidFill>
                <a:latin typeface="Calibri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3127247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Calibri"/>
              </a:rPr>
              <a:t>Architecture &amp; Data Flow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2834639"/>
            <a:ext cx="5303520" cy="9144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3090671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563EB"/>
                </a:solidFill>
                <a:latin typeface="Calibri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3127247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Calibri"/>
              </a:rPr>
              <a:t>Dataset &amp; Database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931920"/>
            <a:ext cx="5303520" cy="9144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187952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563EB"/>
                </a:solidFill>
                <a:latin typeface="Calibri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224528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Calibri"/>
              </a:rPr>
              <a:t>All 6 Dashboard Pages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3931920"/>
            <a:ext cx="5303520" cy="9144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4187952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563EB"/>
                </a:solidFill>
                <a:latin typeface="Calibri"/>
              </a:rP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4224528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Calibri"/>
              </a:rPr>
              <a:t>Machine Learning Explained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029200"/>
            <a:ext cx="5303520" cy="9144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285232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563EB"/>
                </a:solidFill>
                <a:latin typeface="Calibri"/>
              </a:rPr>
              <a:t>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45920" y="5321808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Calibri"/>
              </a:rPr>
              <a:t>Code Structure (Easy)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09360" y="5029200"/>
            <a:ext cx="5303520" cy="9144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60" y="5285232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563EB"/>
                </a:solidFill>
                <a:latin typeface="Calibri"/>
              </a:rPr>
              <a:t>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0" y="5321808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Calibri"/>
              </a:rPr>
              <a:t>Demo Script &amp; Viva Tips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0A5FA"/>
                </a:solidFill>
                <a:latin typeface="Calibri"/>
              </a:rPr>
              <a:t>SECTION 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1F5F9"/>
                </a:solidFill>
                <a:latin typeface="Calibri"/>
              </a:rPr>
              <a:t>Project Pitch &amp;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0233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4A3B8"/>
                </a:solidFill>
                <a:latin typeface="Calibri"/>
              </a:rPr>
              <a:t>Start strong — explain purpose clearly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1F5F9"/>
                </a:solidFill>
                <a:latin typeface="Calibri"/>
              </a:rPr>
              <a:t>30-Second Elevator Pitch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</a:rPr>
              <a:t>Memorize this — open your demo with 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11064240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10332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F172A"/>
                </a:solidFill>
                <a:latin typeface="Calibri"/>
              </a:rPr>
              <a:t>Sir/Madam, this is a Healthcare Analytics Dashboard.
We took a Kaggle dataset of 10,000 patient records, cleaned it, stored it in SQLite, and built a multi-page Streamlit app.
It shows demographics, disease trends, hospital operations, financial analysis, and Machine Learning — K-Means clustering, Random Forest prediction, and patient risk scoring.
Everything runs locally with three commands: install, load data, run Streamlit.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1F5F9"/>
                </a:solidFill>
                <a:latin typeface="Calibri"/>
              </a:rPr>
              <a:t>Problem →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</a:rPr>
              <a:t>Why this project exists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5303520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5303520" cy="5029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64208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1F5F9"/>
                </a:solidFill>
                <a:latin typeface="Calibri"/>
              </a:rPr>
              <a:t>WITHOUT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86000"/>
            <a:ext cx="47548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0F172A"/>
                </a:solidFill>
                <a:latin typeface="Calibri"/>
              </a:rPr>
              <a:t>•  Scattered CSV / Excel files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0F172A"/>
                </a:solidFill>
                <a:latin typeface="Calibri"/>
              </a:rPr>
              <a:t>•  Manual chart making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0F172A"/>
                </a:solidFill>
                <a:latin typeface="Calibri"/>
              </a:rPr>
              <a:t>•  Hard to find trends quickly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0F172A"/>
                </a:solidFill>
                <a:latin typeface="Calibri"/>
              </a:rPr>
              <a:t>•  No prediction or risk view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0F172A"/>
                </a:solidFill>
                <a:latin typeface="Calibri"/>
              </a:rPr>
              <a:t>•  Management decisions are slow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554480"/>
            <a:ext cx="5303520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554480"/>
            <a:ext cx="5303520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664208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1F5F9"/>
                </a:solidFill>
                <a:latin typeface="Calibri"/>
              </a:rPr>
              <a:t>WITH Our Dashboard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286000"/>
            <a:ext cx="47548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0F172A"/>
                </a:solidFill>
                <a:latin typeface="Calibri"/>
              </a:rPr>
              <a:t>•  One clean SQLite database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0F172A"/>
                </a:solidFill>
                <a:latin typeface="Calibri"/>
              </a:rPr>
              <a:t>•  Auto interactive Plotly charts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0F172A"/>
                </a:solidFill>
                <a:latin typeface="Calibri"/>
              </a:rPr>
              <a:t>•  Instant KPIs + filters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0F172A"/>
                </a:solidFill>
                <a:latin typeface="Calibri"/>
              </a:rPr>
              <a:t>•  ML clustering + prediction + risk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0F172A"/>
                </a:solidFill>
                <a:latin typeface="Calibri"/>
              </a:rPr>
              <a:t>•  Faster hospital insights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0A5FA"/>
                </a:solidFill>
                <a:latin typeface="Calibri"/>
              </a:rPr>
              <a:t>SECTION 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1F5F9"/>
                </a:solidFill>
                <a:latin typeface="Calibri"/>
              </a:rPr>
              <a:t>Tech Stack &amp;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0233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4A3B8"/>
                </a:solidFill>
                <a:latin typeface="Calibri"/>
              </a:rPr>
              <a:t>Tools + how to launch the app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1F5F9"/>
                </a:solidFill>
                <a:latin typeface="Calibri"/>
              </a:rPr>
              <a:t>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</a:rPr>
              <a:t>Say these names confidently in viva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34440"/>
            <a:ext cx="11247120" cy="65836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99032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75569"/>
                </a:solidFill>
                <a:latin typeface="Calibri"/>
              </a:rPr>
              <a:t>UI Framework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1399032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Calibri"/>
              </a:rPr>
              <a:t>Streamlit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39903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Python web dashboard — no HTML/JS needed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965960"/>
            <a:ext cx="11247120" cy="65836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130552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75569"/>
                </a:solidFill>
                <a:latin typeface="Calibri"/>
              </a:rPr>
              <a:t>Language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2130552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Calibri"/>
              </a:rPr>
              <a:t>Python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13055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Main coding language of the project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697480"/>
            <a:ext cx="11247120" cy="65836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862072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75569"/>
                </a:solidFill>
                <a:latin typeface="Calibri"/>
              </a:rPr>
              <a:t>Database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2862072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Calibri"/>
              </a:rPr>
              <a:t>SQLite + SQLAlchemy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86207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Single file DB — easy to demo anywhere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429000"/>
            <a:ext cx="11247120" cy="65836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593592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75569"/>
                </a:solidFill>
                <a:latin typeface="Calibri"/>
              </a:rPr>
              <a:t>Data Processing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3593592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Calibri"/>
              </a:rPr>
              <a:t>Pandas + NumPy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59359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Cleaning, grouping, calculations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160520"/>
            <a:ext cx="11247120" cy="65836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325112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75569"/>
                </a:solidFill>
                <a:latin typeface="Calibri"/>
              </a:rPr>
              <a:t>Charts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08960" y="4325112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Calibri"/>
              </a:rPr>
              <a:t>Plotly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432511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Interactive graphs (hover, zoom)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892040"/>
            <a:ext cx="11247120" cy="65836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5056631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75569"/>
                </a:solidFill>
                <a:latin typeface="Calibri"/>
              </a:rPr>
              <a:t>Machine Learning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08960" y="5056631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Calibri"/>
              </a:rPr>
              <a:t>scikit-learn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5056631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K-Means, Random Forest, PCA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5623559"/>
            <a:ext cx="11247120" cy="65836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5788151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75569"/>
                </a:solidFill>
                <a:latin typeface="Calibri"/>
              </a:rPr>
              <a:t>Dataset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08960" y="5788151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Calibri"/>
              </a:rPr>
              <a:t>Kaggle healthcare-dataset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5788151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10,000 real public-domain records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1F5F9"/>
                </a:solidFill>
                <a:latin typeface="Calibri"/>
              </a:rPr>
              <a:t>How to Run (3 Steps)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</a:rPr>
              <a:t>Practice this before demo day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45920"/>
            <a:ext cx="3611880" cy="40233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28800" y="1965960"/>
            <a:ext cx="914400" cy="9144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214884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1F5F9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108960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F172A"/>
                </a:solidFill>
                <a:latin typeface="Calibri"/>
              </a:rPr>
              <a:t>Install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611880"/>
            <a:ext cx="3246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Calibri"/>
              </a:rPr>
              <a:t>pip install -r requirements.txt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389120"/>
            <a:ext cx="3154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75569"/>
                </a:solidFill>
                <a:latin typeface="Calibri"/>
              </a:rPr>
              <a:t>Installs Streamlit, pandas, plotly, sklearn…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645920"/>
            <a:ext cx="3611880" cy="40233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669280" y="1965960"/>
            <a:ext cx="914400" cy="9144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0" y="214884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1F5F9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3108960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F172A"/>
                </a:solidFill>
                <a:latin typeface="Calibri"/>
              </a:rPr>
              <a:t>Load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3611880"/>
            <a:ext cx="3246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Calibri"/>
              </a:rPr>
              <a:t>python database/loader.py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4389120"/>
            <a:ext cx="3154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75569"/>
                </a:solidFill>
                <a:latin typeface="Calibri"/>
              </a:rPr>
              <a:t>Creates SQLite DB + loads 10,000 records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80" y="1645920"/>
            <a:ext cx="3611880" cy="40233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509760" y="1965960"/>
            <a:ext cx="914400" cy="9144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0" y="214884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1F5F9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3108960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F172A"/>
                </a:solidFill>
                <a:latin typeface="Calibri"/>
              </a:rPr>
              <a:t>Launch App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3611880"/>
            <a:ext cx="3246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Calibri"/>
              </a:rPr>
              <a:t>streamlit run app.py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4389120"/>
            <a:ext cx="3154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75569"/>
                </a:solidFill>
                <a:latin typeface="Calibri"/>
              </a:rPr>
              <a:t>Opens dashboard at localhost:8501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0A5FA"/>
                </a:solidFill>
                <a:latin typeface="Calibri"/>
              </a:rPr>
              <a:t>SECTION 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1F5F9"/>
                </a:solidFill>
                <a:latin typeface="Calibri"/>
              </a:rPr>
              <a:t>Architecture &amp;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0233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4A3B8"/>
                </a:solidFill>
                <a:latin typeface="Calibri"/>
              </a:rPr>
              <a:t>How folders and data connect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1F5F9"/>
                </a:solidFill>
                <a:latin typeface="Calibri"/>
              </a:rPr>
              <a:t>Project Architecture (Easy Map)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</a:rPr>
              <a:t>Think like a restaurant kitchen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0" y="1325880"/>
            <a:ext cx="7589520" cy="8229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0" y="1325880"/>
            <a:ext cx="164592" cy="822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0" y="143560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Calibri"/>
              </a:rPr>
              <a:t>CSV / Kaggle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1764792"/>
            <a:ext cx="6583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Raw ingredients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203911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563EB"/>
                </a:solidFill>
                <a:latin typeface="Calibri"/>
              </a:rPr>
              <a:t>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86000" y="2286000"/>
            <a:ext cx="7589520" cy="8229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86000" y="2286000"/>
            <a:ext cx="164592" cy="822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0" y="239572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Calibri"/>
              </a:rPr>
              <a:t>loader.py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2724912"/>
            <a:ext cx="6583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Kitchen — clean &amp; store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299923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563EB"/>
                </a:solidFill>
                <a:latin typeface="Calibri"/>
              </a:rPr>
              <a:t>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86000" y="3246120"/>
            <a:ext cx="7589520" cy="8229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86000" y="3246120"/>
            <a:ext cx="164592" cy="822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0" y="335584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Calibri"/>
              </a:rPr>
              <a:t>analytics/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3685032"/>
            <a:ext cx="6583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Chefs — SQL queries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0" y="39593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563EB"/>
                </a:solidFill>
                <a:latin typeface="Calibri"/>
              </a:rPr>
              <a:t>↓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286000" y="4206240"/>
            <a:ext cx="7589520" cy="8229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286000" y="4206240"/>
            <a:ext cx="164592" cy="822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0" y="431596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Calibri"/>
              </a:rPr>
              <a:t>visualizations/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0" y="4645152"/>
            <a:ext cx="6583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Plating — charts/KPIs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0" y="491947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563EB"/>
                </a:solidFill>
                <a:latin typeface="Calibri"/>
              </a:rPr>
              <a:t>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286000" y="5166360"/>
            <a:ext cx="7589520" cy="8229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86000" y="5166360"/>
            <a:ext cx="164592" cy="822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0" y="527608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Calibri"/>
              </a:rPr>
              <a:t>pages/ + app.py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0" y="5605272"/>
            <a:ext cx="6583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Menu — what user sees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1F5F9"/>
                </a:solidFill>
                <a:latin typeface="Calibri"/>
              </a:rPr>
              <a:t>Folder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</a:rPr>
              <a:t>What each folder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5486400" cy="4480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916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563EB"/>
                </a:solidFill>
                <a:latin typeface="Calibri"/>
              </a:rPr>
              <a:t>UI &amp; Logic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86000"/>
            <a:ext cx="49377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0F172A"/>
                </a:solidFill>
                <a:latin typeface="Calibri"/>
              </a:rPr>
              <a:t>•  app.py → Home page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0F172A"/>
                </a:solidFill>
                <a:latin typeface="Calibri"/>
              </a:rPr>
              <a:t>•  pages/ → 6 dashboard screens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0F172A"/>
                </a:solidFill>
                <a:latin typeface="Calibri"/>
              </a:rPr>
              <a:t>•  analytics/ → SQL business logic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0F172A"/>
                </a:solidFill>
                <a:latin typeface="Calibri"/>
              </a:rPr>
              <a:t>•  visualizations/ → charts + KPI cards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463040"/>
            <a:ext cx="5486400" cy="4480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6916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563EB"/>
                </a:solidFill>
                <a:latin typeface="Calibri"/>
              </a:rPr>
              <a:t>Data &amp; Config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286000"/>
            <a:ext cx="49377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0F172A"/>
                </a:solidFill>
                <a:latin typeface="Calibri"/>
              </a:rPr>
              <a:t>•  database/ → connection, schema, loader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0F172A"/>
                </a:solidFill>
                <a:latin typeface="Calibri"/>
              </a:rPr>
              <a:t>•  data/ → CSV + healthcare.db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0F172A"/>
                </a:solidFill>
                <a:latin typeface="Calibri"/>
              </a:rPr>
              <a:t>•  assets/style.css → dark theme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0F172A"/>
                </a:solidFill>
                <a:latin typeface="Calibri"/>
              </a:rPr>
              <a:t>•  config/settings.py → colors/config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1F5F9"/>
                </a:solidFill>
                <a:latin typeface="Calibri"/>
              </a:rPr>
              <a:t>Data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</a:rPr>
              <a:t>Follow the path of one patient record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377440"/>
            <a:ext cx="2057400" cy="16459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834640"/>
            <a:ext cx="187451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1F5F9"/>
                </a:solidFill>
                <a:latin typeface="Calibri"/>
              </a:rPr>
              <a:t>CSV / Kaggle
or Synthetic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31720" y="2926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563EB"/>
                </a:solidFill>
                <a:latin typeface="Calibri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2377440"/>
            <a:ext cx="2057400" cy="16459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40" y="2834640"/>
            <a:ext cx="187451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1F5F9"/>
                </a:solidFill>
                <a:latin typeface="Calibri"/>
              </a:rPr>
              <a:t>loader.py
clean + enrich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2926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563EB"/>
                </a:solidFill>
                <a:latin typeface="Calibr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20640" y="2377440"/>
            <a:ext cx="2057400" cy="16459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80" y="2834640"/>
            <a:ext cx="187451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1F5F9"/>
                </a:solidFill>
                <a:latin typeface="Calibri"/>
              </a:rPr>
              <a:t>SQLite
healthcare.db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86600" y="2926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563EB"/>
                </a:solidFill>
                <a:latin typeface="Calibr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80" y="2377440"/>
            <a:ext cx="2057400" cy="16459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0" y="2834640"/>
            <a:ext cx="187451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1F5F9"/>
                </a:solidFill>
                <a:latin typeface="Calibri"/>
              </a:rPr>
              <a:t>analytics/
SQL queries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64040" y="2926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563EB"/>
                </a:solidFill>
                <a:latin typeface="Calibr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875520" y="2377440"/>
            <a:ext cx="2057400" cy="16459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66960" y="2834640"/>
            <a:ext cx="187451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1F5F9"/>
                </a:solidFill>
                <a:latin typeface="Calibri"/>
              </a:rPr>
              <a:t>pages/
charts + KPIs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480560"/>
            <a:ext cx="11064240" cy="15544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70916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•  loader.py also creates age_group and length_of_stay (extra useful columns)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•  Every page calls analytics functions → query_df(SQL) → Pandas DataFrame → Plotly chart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•  Layered design: UI does not hold heavy SQL — analytics modules do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1F5F9"/>
                </a:solidFill>
                <a:latin typeface="Calibri"/>
              </a:rPr>
              <a:t>Dataset Snapshot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</a:rPr>
              <a:t>What is inside the 10,000 records?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2743200" cy="15544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60020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563EB"/>
                </a:solidFill>
                <a:latin typeface="Calibri"/>
              </a:rPr>
              <a:t>10,000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3317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75569"/>
                </a:solidFill>
                <a:latin typeface="Calibri"/>
              </a:rPr>
              <a:t>Patient records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417320"/>
            <a:ext cx="2743200" cy="15544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160020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563EB"/>
                </a:solidFill>
                <a:latin typeface="Calibri"/>
              </a:rPr>
              <a:t>15+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23317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75569"/>
                </a:solidFill>
                <a:latin typeface="Calibri"/>
              </a:rPr>
              <a:t>Original CSV columns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1417320"/>
            <a:ext cx="2743200" cy="15544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60020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563EB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3317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75569"/>
                </a:solidFill>
                <a:latin typeface="Calibri"/>
              </a:rPr>
              <a:t>Main SQLite table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81160" y="1417320"/>
            <a:ext cx="2743200" cy="15544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72600" y="160020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563EB"/>
                </a:solidFill>
                <a:latin typeface="Calibri"/>
              </a:rPr>
              <a:t>CC0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72600" y="23317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75569"/>
                </a:solidFill>
                <a:latin typeface="Calibri"/>
              </a:rPr>
              <a:t>Public domain license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246120"/>
            <a:ext cx="11155680" cy="6858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4290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Calibri"/>
              </a:rPr>
              <a:t>Patient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42900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Name, Age, Gender, Blood Type, Age Group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023359"/>
            <a:ext cx="11155680" cy="6858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20623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Calibri"/>
              </a:rPr>
              <a:t>Clinical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206239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Medical Condition, Medication, Test Results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4800600"/>
            <a:ext cx="11155680" cy="6858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9834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Calibri"/>
              </a:rPr>
              <a:t>Operations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498348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Hospital, Doctor, Room, Admission Type, LOS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5577840"/>
            <a:ext cx="11155680" cy="6858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57607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Calibri"/>
              </a:rPr>
              <a:t>Financial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80" y="576072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Billing Amount, Insurance Provider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0A5FA"/>
                </a:solidFill>
                <a:latin typeface="Calibri"/>
              </a:rPr>
              <a:t>SECTION 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1F5F9"/>
                </a:solidFill>
                <a:latin typeface="Calibri"/>
              </a:rPr>
              <a:t>Dashboard Pages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0233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4A3B8"/>
                </a:solidFill>
                <a:latin typeface="Calibri"/>
              </a:rPr>
              <a:t>What each screen means for your demo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1F5F9"/>
                </a:solidFill>
                <a:latin typeface="Calibri"/>
              </a:rPr>
              <a:t>Dashboard Pages (Map)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</a:rPr>
              <a:t>6 pages + Home — click order for demo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63040"/>
            <a:ext cx="3611880" cy="2103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563EB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Calibri"/>
              </a:rPr>
              <a:t>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KPIs, monthly trends, recent records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463040"/>
            <a:ext cx="3611880" cy="2103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7830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563EB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2860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Calibri"/>
              </a:rPr>
              <a:t>Demographics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74320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Age, gender, blood type, insurance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80" y="1463040"/>
            <a:ext cx="3611880" cy="2103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17830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563EB"/>
                </a:solidFill>
                <a:latin typeface="Calibr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2860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Calibri"/>
              </a:rPr>
              <a:t>Disease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74320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Conditions, meds, test results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840480"/>
            <a:ext cx="3611880" cy="2103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16052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563EB"/>
                </a:solidFill>
                <a:latin typeface="Calibr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6634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Calibri"/>
              </a:rPr>
              <a:t>Operations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12064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Hospital/doctor, LOS, admissions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3840480"/>
            <a:ext cx="3611880" cy="2103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0" y="416052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563EB"/>
                </a:solidFill>
                <a:latin typeface="Calibri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46634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Calibri"/>
              </a:rPr>
              <a:t>Financial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512064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Revenue, payer mix, high-value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83880" y="3840480"/>
            <a:ext cx="3611880" cy="2103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0" y="416052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563EB"/>
                </a:solidFill>
                <a:latin typeface="Calibri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46634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Calibri"/>
              </a:rPr>
              <a:t>ML Insights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512064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Clustering, RF, risk scoring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1F5F9"/>
                </a:solidFill>
                <a:latin typeface="Calibri"/>
              </a:rPr>
              <a:t>Page 01 —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</a:rPr>
              <a:t>What to show + what to say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11155680" cy="13716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Calibri"/>
              </a:rPr>
              <a:t>SAY THIS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Calibri"/>
              </a:rPr>
              <a:t>This is the executive summary for management — one screen to understand the whole hospital dataset.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017520"/>
            <a:ext cx="5486400" cy="31089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2004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What it shows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749039"/>
            <a:ext cx="5029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•  Total records, patients, hospitals, doctors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•  Revenue, avg billing, avg LOS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•  Abnormal test rate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•  Monthly admissions &amp; revenue trends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•  Recent records table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017520"/>
            <a:ext cx="5440680" cy="31089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2004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Code file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384048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</a:rPr>
              <a:t>pages/01_Overview.py
+
analytics/overview.py
Key functions:
get_kpis()
get_monthly_trend()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1F5F9"/>
                </a:solidFill>
                <a:latin typeface="Calibri"/>
              </a:rPr>
              <a:t>Page 02 — Patient Demographics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</a:rPr>
              <a:t>What to show + what to say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11155680" cy="13716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Calibri"/>
              </a:rPr>
              <a:t>SAY THIS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Calibri"/>
              </a:rPr>
              <a:t>Who are our patients? Age, gender, blood type, insurance mix — useful for planning.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017520"/>
            <a:ext cx="5486400" cy="31089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2004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What it shows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749039"/>
            <a:ext cx="5029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•  Age group distribution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•  Male / Female breakdown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•  Blood type chart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•  Insurance provider mix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•  Age × gender heatmap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•  Age vs billing scatter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017520"/>
            <a:ext cx="5440680" cy="31089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2004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Code file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384048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</a:rPr>
              <a:t>pages/02_Patient_Demographics.py
+
analytics/patient_analytics.py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1F5F9"/>
                </a:solidFill>
                <a:latin typeface="Calibri"/>
              </a:rPr>
              <a:t>Page 03 — Disease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</a:rPr>
              <a:t>What to show + what to say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11155680" cy="13716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Calibri"/>
              </a:rPr>
              <a:t>SAY THIS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Calibri"/>
              </a:rPr>
              <a:t>Which diseases are most common, which medicines are used, and how test results vary.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017520"/>
            <a:ext cx="5486400" cy="31089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2004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What it shows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749039"/>
            <a:ext cx="5029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•  Top medical conditions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•  Medication summary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•  Test results by condition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•  Condition trends over time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•  Treemap / severity proxy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•  Top-N slider filter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017520"/>
            <a:ext cx="5440680" cy="31089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2004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Code file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384048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</a:rPr>
              <a:t>pages/03_Disease_Analysis.py
+
analytics/disease_analytics.py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1F5F9"/>
                </a:solidFill>
                <a:latin typeface="Calibri"/>
              </a:rPr>
              <a:t>Page 04 — Hospital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</a:rPr>
              <a:t>What to show + what to say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11155680" cy="13716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Calibri"/>
              </a:rPr>
              <a:t>SAY THIS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Calibri"/>
              </a:rPr>
              <a:t>Operations view — hospital/doctor load, length of stay, emergency vs elective.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017520"/>
            <a:ext cx="5486400" cy="31089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2004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What it shows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749039"/>
            <a:ext cx="5029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•  Hospital performance table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•  Doctor workload (top 50)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•  Admission type mix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•  LOS distribution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•  Weekly admission pattern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•  Room utilization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017520"/>
            <a:ext cx="5440680" cy="31089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2004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Code file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384048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</a:rPr>
              <a:t>pages/04_Hospital_Operations.py
+
analytics/hospital_analytics.py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1F5F9"/>
                </a:solidFill>
                <a:latin typeface="Calibri"/>
              </a:rPr>
              <a:t>Page 05 — Financial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</a:rPr>
              <a:t>What to show + what to say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11155680" cy="13716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Calibri"/>
              </a:rPr>
              <a:t>SAY THIS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Calibri"/>
              </a:rPr>
              <a:t>Financial view — where revenue comes from, insurance mix, and expensive cases.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017520"/>
            <a:ext cx="5486400" cy="31089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2004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What it shows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749039"/>
            <a:ext cx="5029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•  Total / avg / min / max billing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•  Revenue by condition &amp; hospital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•  Payer mix (insurance)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•  Monthly revenue trend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•  High-value cases filter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017520"/>
            <a:ext cx="5440680" cy="31089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2004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Code file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384048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</a:rPr>
              <a:t>pages/05_Financial_Analysis.py
+
analytics/financial_analytics.py
Sidebar: high-value threshold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0A5FA"/>
                </a:solidFill>
                <a:latin typeface="Calibri"/>
              </a:rPr>
              <a:t>SECTION 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1F5F9"/>
                </a:solidFill>
                <a:latin typeface="Calibri"/>
              </a:rPr>
              <a:t>Machine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0233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4A3B8"/>
                </a:solidFill>
                <a:latin typeface="Calibri"/>
              </a:rPr>
              <a:t>The page that impresses most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1F5F9"/>
                </a:solidFill>
                <a:latin typeface="Calibri"/>
              </a:rPr>
              <a:t>ML Insights —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</a:rPr>
              <a:t>Most impressive page — spend 2–3 minutes here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3611880" cy="42062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554480"/>
            <a:ext cx="3611880" cy="1371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F172A"/>
                </a:solidFill>
                <a:latin typeface="Calibri"/>
              </a:rPr>
              <a:t>K-Means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6032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0B981"/>
                </a:solidFill>
                <a:latin typeface="Calibri"/>
              </a:rPr>
              <a:t>Unsupervised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291840"/>
            <a:ext cx="3063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475569"/>
                </a:solidFill>
                <a:latin typeface="Calibri"/>
              </a:rPr>
              <a:t>Group similar patients
into cost/stay segments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937760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Calibri"/>
              </a:rPr>
              <a:t>File: analytics/ml_insights.py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554480"/>
            <a:ext cx="3611880" cy="42062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554480"/>
            <a:ext cx="3611880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2011680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F172A"/>
                </a:solidFill>
                <a:latin typeface="Calibri"/>
              </a:rPr>
              <a:t>Random Forest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56032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563EB"/>
                </a:solidFill>
                <a:latin typeface="Calibri"/>
              </a:rPr>
              <a:t>Supervised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3291840"/>
            <a:ext cx="3063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475569"/>
                </a:solidFill>
                <a:latin typeface="Calibri"/>
              </a:rPr>
              <a:t>Predict test result:
Normal / Abnormal / Inconclusive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4937760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Calibri"/>
              </a:rPr>
              <a:t>File: analytics/ml_insights.py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80" y="1554480"/>
            <a:ext cx="3611880" cy="42062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83880" y="1554480"/>
            <a:ext cx="3611880" cy="1371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2011680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F172A"/>
                </a:solidFill>
                <a:latin typeface="Calibri"/>
              </a:rPr>
              <a:t>Risk Score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256032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59E0B"/>
                </a:solidFill>
                <a:latin typeface="Calibri"/>
              </a:rPr>
              <a:t>Rule-based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3291840"/>
            <a:ext cx="3063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475569"/>
                </a:solidFill>
                <a:latin typeface="Calibri"/>
              </a:rPr>
              <a:t>Score patients 0–100
Low / Moderate / High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4937760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Calibri"/>
              </a:rPr>
              <a:t>File: analytics/ml_insights.py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1F5F9"/>
                </a:solidFill>
                <a:latin typeface="Calibri"/>
              </a:rPr>
              <a:t>ML — How Each Model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</a:rPr>
              <a:t>Simple explanations for viva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11247120" cy="15544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50876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Calibri"/>
              </a:rPr>
              <a:t>K-Means + PCA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92024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Features: age, billing, LOS, gender, admission type, condition → StandardScaler → K-Means (2–8 clusters) → PCA projects to 2D for scatter plot. Why scale? Billing numbers are huge vs age — without scaling, billing dominates.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108960"/>
            <a:ext cx="11247120" cy="15544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324612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Calibri"/>
              </a:rPr>
              <a:t>Random Forest Classifier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65760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Label = test_results. Train/test = 80/20. 100 trees vote. Shows accuracy, confusion matrix, feature importance. Why RF? Strong ensemble model, handles mixed features, easy to explain.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846320"/>
            <a:ext cx="11247120" cy="1463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498348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Calibri"/>
              </a:rPr>
              <a:t>Risk Score Formula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39496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0.30×Age + 0.30×Billing + 0.25×LOS + 0.10×AbnormalTest + 0.05×Emergency → score 0–100 → Low (0–33) / Moderate (34–66) / High (67–100)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0A5FA"/>
                </a:solidFill>
                <a:latin typeface="Calibri"/>
              </a:rPr>
              <a:t>SECTION 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1F5F9"/>
                </a:solidFill>
                <a:latin typeface="Calibri"/>
              </a:rPr>
              <a:t>Code &amp; Demo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0233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4A3B8"/>
                </a:solidFill>
                <a:latin typeface="Calibri"/>
              </a:rPr>
              <a:t>Explain code simply + follow the script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1F5F9"/>
                </a:solidFill>
                <a:latin typeface="Calibri"/>
              </a:rPr>
              <a:t>Code Pattern (All Pages Same)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</a:rPr>
              <a:t>Understand once — explain every page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63040"/>
            <a:ext cx="3611880" cy="20574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563EB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317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Calibri"/>
              </a:rPr>
              <a:t>Page setup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8892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set_page_config + load CSS theme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463040"/>
            <a:ext cx="3611880" cy="20574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7830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563EB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3317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Calibri"/>
              </a:rPr>
              <a:t>Import logic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78892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from analytics.* import get_...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80" y="1463040"/>
            <a:ext cx="3611880" cy="20574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17830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563EB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3317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Calibri"/>
              </a:rPr>
              <a:t>Fetch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78892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SQL via query_df() → DataFrame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794760"/>
            <a:ext cx="3611880" cy="20574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11480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563EB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6634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Calibri"/>
              </a:rPr>
              <a:t>Show KPIs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12064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metric_row([...]) big number cards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3794760"/>
            <a:ext cx="3611880" cy="20574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0" y="411480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563EB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46634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Calibri"/>
              </a:rPr>
              <a:t>Draw charts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512064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Plotly helpers + st.plotly_chart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83880" y="3794760"/>
            <a:ext cx="3611880" cy="20574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0" y="411480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563EB"/>
                </a:solidFill>
                <a:latin typeface="Calibr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46634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Calibri"/>
              </a:rPr>
              <a:t>Tables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512064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st.dataframe for detail rows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1F5F9"/>
                </a:solidFill>
                <a:latin typeface="Calibri"/>
              </a:rPr>
              <a:t>Key Files to Open During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</a:rPr>
              <a:t>Show 4 files — enough to impress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63040"/>
            <a:ext cx="5577840" cy="2103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7452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563EB"/>
                </a:solidFill>
                <a:latin typeface="Calibri"/>
              </a:rPr>
              <a:t>database/loader.py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1460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How data enters the system
(Kaggle → CSV → clean → SQLite)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463040"/>
            <a:ext cx="5577840" cy="2103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87452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563EB"/>
                </a:solidFill>
                <a:latin typeface="Calibri"/>
              </a:rPr>
              <a:t>database/connection.py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51460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query_df() — SQL becomes
Pandas DataFrame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840480"/>
            <a:ext cx="5577840" cy="2103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2519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563EB"/>
                </a:solidFill>
                <a:latin typeface="Calibri"/>
              </a:rPr>
              <a:t>analytics/overview.py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89204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Example SQL analytics
(KPIs, monthly trends)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3840480"/>
            <a:ext cx="5577840" cy="2103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42519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563EB"/>
                </a:solidFill>
                <a:latin typeface="Calibri"/>
              </a:rPr>
              <a:t>analytics/ml_insights.py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489204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K-Means + Random Forest
+ Risk scoring code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1F5F9"/>
                </a:solidFill>
                <a:latin typeface="Calibri"/>
              </a:rPr>
              <a:t>8–10 Minute Demo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</a:rPr>
              <a:t>Follow this order on project day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554480"/>
            <a:ext cx="2194560" cy="19202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96596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563EB"/>
                </a:solidFill>
                <a:latin typeface="Calibri"/>
              </a:rPr>
              <a:t>0:45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6032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F172A"/>
                </a:solidFill>
                <a:latin typeface="Calibri"/>
              </a:rPr>
              <a:t>Intro pitch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97479" y="1554480"/>
            <a:ext cx="2194560" cy="19202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88919" y="196596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563EB"/>
                </a:solidFill>
                <a:latin typeface="Calibri"/>
              </a:rPr>
              <a:t>0:30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8919" y="256032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F172A"/>
                </a:solidFill>
                <a:latin typeface="Calibri"/>
              </a:rPr>
              <a:t>Home + DB connected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0" y="1554480"/>
            <a:ext cx="2194560" cy="19202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0" y="196596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563EB"/>
                </a:solidFill>
                <a:latin typeface="Calibri"/>
              </a:rPr>
              <a:t>1:00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256032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F172A"/>
                </a:solidFill>
                <a:latin typeface="Calibri"/>
              </a:rPr>
              <a:t>Overview KPIs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60919" y="1554480"/>
            <a:ext cx="2194560" cy="19202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52359" y="196596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563EB"/>
                </a:solidFill>
                <a:latin typeface="Calibri"/>
              </a:rPr>
              <a:t>1:00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52359" y="256032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F172A"/>
                </a:solidFill>
                <a:latin typeface="Calibri"/>
              </a:rPr>
              <a:t>Demographics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92640" y="1554480"/>
            <a:ext cx="2194560" cy="19202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84080" y="196596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563EB"/>
                </a:solidFill>
                <a:latin typeface="Calibri"/>
              </a:rPr>
              <a:t>1:00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0" y="256032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F172A"/>
                </a:solidFill>
                <a:latin typeface="Calibri"/>
              </a:rPr>
              <a:t>Disease page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3840480"/>
            <a:ext cx="2194560" cy="19202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25196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563EB"/>
                </a:solidFill>
                <a:latin typeface="Calibri"/>
              </a:rPr>
              <a:t>1:00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84632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F172A"/>
                </a:solidFill>
                <a:latin typeface="Calibri"/>
              </a:rPr>
              <a:t>Operations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697479" y="3840480"/>
            <a:ext cx="2194560" cy="19202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88919" y="425196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563EB"/>
                </a:solidFill>
                <a:latin typeface="Calibri"/>
              </a:rPr>
              <a:t>1:00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88919" y="484632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F172A"/>
                </a:solidFill>
                <a:latin typeface="Calibri"/>
              </a:rPr>
              <a:t>Financial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0" y="3840480"/>
            <a:ext cx="2194560" cy="19202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20640" y="425196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563EB"/>
                </a:solidFill>
                <a:latin typeface="Calibri"/>
              </a:rPr>
              <a:t>2:30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0640" y="484632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F172A"/>
                </a:solidFill>
                <a:latin typeface="Calibri"/>
              </a:rPr>
              <a:t>ML Insights ★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60919" y="3840480"/>
            <a:ext cx="2194560" cy="19202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52359" y="425196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563EB"/>
                </a:solidFill>
                <a:latin typeface="Calibri"/>
              </a:rPr>
              <a:t>1:00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52359" y="484632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F172A"/>
                </a:solidFill>
                <a:latin typeface="Calibri"/>
              </a:rPr>
              <a:t>Show 2–3 code files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692640" y="3840480"/>
            <a:ext cx="2194560" cy="19202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84080" y="425196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563EB"/>
                </a:solidFill>
                <a:latin typeface="Calibri"/>
              </a:rPr>
              <a:t>0:20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84080" y="484632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F172A"/>
                </a:solidFill>
                <a:latin typeface="Calibri"/>
              </a:rPr>
              <a:t>Closing line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1F5F9"/>
                </a:solidFill>
                <a:latin typeface="Calibri"/>
              </a:rPr>
              <a:t>Likely Viva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</a:rPr>
              <a:t>Short ready answers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Calibri"/>
              </a:rPr>
              <a:t>Q: What is your project?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A: Healthcare analytics dashboard on 10k records with SQL + charts + ML.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Calibri"/>
              </a:rPr>
              <a:t>Q: Why Streamlit?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95727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A: Build interactive dashboard in pure Python — fast for data projects.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926079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Calibri"/>
              </a:rPr>
              <a:t>Q: Why SQLite?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218687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A: Zero setup, one file, portable, enough for 10k rows.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49039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Calibri"/>
              </a:rPr>
              <a:t>Q: Clustering vs Classification?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041648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A: Clustering = no labels (groups). Classification = predict labeled class.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57200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Calibri"/>
              </a:rPr>
              <a:t>Q: How is LOS calculated?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864608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A: discharge_date − date_of_admission (days) in loader.py.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39496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Calibri"/>
              </a:rPr>
              <a:t>Q: Architecture pattern?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687568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A: Layered: database → analytics → visualizations → pages.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0A5FA"/>
                </a:solidFill>
                <a:latin typeface="Calibri"/>
              </a:rPr>
              <a:t>CLOSING LINE (memorize)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1F5F9"/>
                </a:solidFill>
                <a:latin typeface="Calibri"/>
              </a:rPr>
              <a:t>Our project follows a clean layered design:
data is loaded once into SQLite,
analytics modules run SQL,
visualization helpers draw charts,
and Streamlit pages present insights —
including clustering, prediction, and risk scoring.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846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Study tip: revise DEMO_STUDY_NOTES.md + practice this PPT once with the live app open.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1F5F9"/>
                </a:solidFill>
                <a:latin typeface="Calibri"/>
              </a:rPr>
              <a:t>Thank you  |  Ready for questions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